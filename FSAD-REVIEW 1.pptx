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libri" pitchFamily="34" charset="0"/>
      <p:regular r:id="rId17"/>
      <p:bold r:id="rId18"/>
      <p:italic r:id="rId19"/>
      <p:boldItalic r:id="rId20"/>
    </p:embeddedFont>
    <p:embeddedFont>
      <p:font typeface="Cambria" pitchFamily="18" charset="0"/>
      <p:regular r:id="rId21"/>
      <p:bold r:id="rId22"/>
      <p:italic r:id="rId23"/>
      <p:boldItalic r:id="rId24"/>
    </p:embeddedFont>
    <p:embeddedFont>
      <p:font typeface="Bookman Old Style" pitchFamily="18" charset="0"/>
      <p:regular r:id="rId25"/>
      <p:bold r:id="rId26"/>
      <p:italic r:id="rId27"/>
      <p:boldItalic r:id="rId28"/>
    </p:embeddedFont>
    <p:embeddedFont>
      <p:font typeface="Gotham" charset="0"/>
      <p:regular r:id="rId29"/>
    </p:embeddedFont>
    <p:embeddedFont>
      <p:font typeface="Gotham Bold Italics"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33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E3B418-92C8-4772-ADE1-1537A281E360}" v="11" dt="2026-03-22T16:24:13.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99" autoAdjust="0"/>
    <p:restoredTop sz="94622" autoAdjust="0"/>
  </p:normalViewPr>
  <p:slideViewPr>
    <p:cSldViewPr>
      <p:cViewPr varScale="1">
        <p:scale>
          <a:sx n="41" d="100"/>
          <a:sy n="41" d="100"/>
        </p:scale>
        <p:origin x="-836"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madisetty mohith" userId="dcf4cd7b9224ec9a" providerId="LiveId" clId="{80BC5271-2EF7-4AC7-9212-08AF10325BF1}"/>
    <pc:docChg chg="custSel modSld">
      <pc:chgData name="immadisetty mohith" userId="dcf4cd7b9224ec9a" providerId="LiveId" clId="{80BC5271-2EF7-4AC7-9212-08AF10325BF1}" dt="2026-03-22T16:28:06.421" v="136" actId="20577"/>
      <pc:docMkLst>
        <pc:docMk/>
      </pc:docMkLst>
      <pc:sldChg chg="modSp mod">
        <pc:chgData name="immadisetty mohith" userId="dcf4cd7b9224ec9a" providerId="LiveId" clId="{80BC5271-2EF7-4AC7-9212-08AF10325BF1}" dt="2026-03-22T16:25:30.794" v="55" actId="20577"/>
        <pc:sldMkLst>
          <pc:docMk/>
          <pc:sldMk cId="0" sldId="256"/>
        </pc:sldMkLst>
        <pc:spChg chg="mod">
          <ac:chgData name="immadisetty mohith" userId="dcf4cd7b9224ec9a" providerId="LiveId" clId="{80BC5271-2EF7-4AC7-9212-08AF10325BF1}" dt="2026-03-22T16:25:30.794" v="55" actId="20577"/>
          <ac:spMkLst>
            <pc:docMk/>
            <pc:sldMk cId="0" sldId="256"/>
            <ac:spMk id="27" creationId="{AC6C53BF-3850-6683-E07F-D595EC8B02B2}"/>
          </ac:spMkLst>
        </pc:spChg>
      </pc:sldChg>
      <pc:sldChg chg="modSp mod">
        <pc:chgData name="immadisetty mohith" userId="dcf4cd7b9224ec9a" providerId="LiveId" clId="{80BC5271-2EF7-4AC7-9212-08AF10325BF1}" dt="2026-03-22T16:28:06.421" v="136" actId="20577"/>
        <pc:sldMkLst>
          <pc:docMk/>
          <pc:sldMk cId="0" sldId="263"/>
        </pc:sldMkLst>
        <pc:spChg chg="mod">
          <ac:chgData name="immadisetty mohith" userId="dcf4cd7b9224ec9a" providerId="LiveId" clId="{80BC5271-2EF7-4AC7-9212-08AF10325BF1}" dt="2026-03-22T16:28:06.421" v="136" actId="20577"/>
          <ac:spMkLst>
            <pc:docMk/>
            <pc:sldMk cId="0" sldId="263"/>
            <ac:spMk id="48" creationId="{26E9F5F9-CCF8-6F05-4C01-034C88D7529E}"/>
          </ac:spMkLst>
        </pc:spChg>
      </pc:sldChg>
      <pc:sldChg chg="addSp modSp mod">
        <pc:chgData name="immadisetty mohith" userId="dcf4cd7b9224ec9a" providerId="LiveId" clId="{80BC5271-2EF7-4AC7-9212-08AF10325BF1}" dt="2026-03-22T16:22:41.701" v="16" actId="1076"/>
        <pc:sldMkLst>
          <pc:docMk/>
          <pc:sldMk cId="1998101144" sldId="266"/>
        </pc:sldMkLst>
        <pc:spChg chg="mod">
          <ac:chgData name="immadisetty mohith" userId="dcf4cd7b9224ec9a" providerId="LiveId" clId="{80BC5271-2EF7-4AC7-9212-08AF10325BF1}" dt="2026-03-22T16:21:29.616" v="7" actId="20577"/>
          <ac:spMkLst>
            <pc:docMk/>
            <pc:sldMk cId="1998101144" sldId="266"/>
            <ac:spMk id="44" creationId="{9EC6A4DA-6D4B-3E6A-CF92-E543DD7AFBF5}"/>
          </ac:spMkLst>
        </pc:spChg>
        <pc:picChg chg="mod">
          <ac:chgData name="immadisetty mohith" userId="dcf4cd7b9224ec9a" providerId="LiveId" clId="{80BC5271-2EF7-4AC7-9212-08AF10325BF1}" dt="2026-03-22T16:22:36.275" v="15" actId="1076"/>
          <ac:picMkLst>
            <pc:docMk/>
            <pc:sldMk cId="1998101144" sldId="266"/>
            <ac:picMk id="3" creationId="{D2BA4E1C-6BF8-FCBB-2094-416E0DD447C6}"/>
          </ac:picMkLst>
        </pc:picChg>
        <pc:picChg chg="add mod">
          <ac:chgData name="immadisetty mohith" userId="dcf4cd7b9224ec9a" providerId="LiveId" clId="{80BC5271-2EF7-4AC7-9212-08AF10325BF1}" dt="2026-03-22T16:22:41.701" v="16" actId="1076"/>
          <ac:picMkLst>
            <pc:docMk/>
            <pc:sldMk cId="1998101144" sldId="266"/>
            <ac:picMk id="5" creationId="{804EBA35-4A78-EEBD-D1E0-DF67FE17E8CC}"/>
          </ac:picMkLst>
        </pc:picChg>
      </pc:sldChg>
      <pc:sldChg chg="addSp delSp modSp mod">
        <pc:chgData name="immadisetty mohith" userId="dcf4cd7b9224ec9a" providerId="LiveId" clId="{80BC5271-2EF7-4AC7-9212-08AF10325BF1}" dt="2026-03-22T16:24:36.093" v="49" actId="1076"/>
        <pc:sldMkLst>
          <pc:docMk/>
          <pc:sldMk cId="3981187392" sldId="269"/>
        </pc:sldMkLst>
        <pc:spChg chg="add">
          <ac:chgData name="immadisetty mohith" userId="dcf4cd7b9224ec9a" providerId="LiveId" clId="{80BC5271-2EF7-4AC7-9212-08AF10325BF1}" dt="2026-03-22T16:23:31.625" v="40"/>
          <ac:spMkLst>
            <pc:docMk/>
            <pc:sldMk cId="3981187392" sldId="269"/>
            <ac:spMk id="5" creationId="{A3127AFF-F45A-BB75-0DA7-0B7273C5E8BE}"/>
          </ac:spMkLst>
        </pc:spChg>
        <pc:spChg chg="add">
          <ac:chgData name="immadisetty mohith" userId="dcf4cd7b9224ec9a" providerId="LiveId" clId="{80BC5271-2EF7-4AC7-9212-08AF10325BF1}" dt="2026-03-22T16:24:08.570" v="43"/>
          <ac:spMkLst>
            <pc:docMk/>
            <pc:sldMk cId="3981187392" sldId="269"/>
            <ac:spMk id="38" creationId="{270AEF32-44C5-0535-881C-70F4091D6A4B}"/>
          </ac:spMkLst>
        </pc:spChg>
        <pc:spChg chg="mod">
          <ac:chgData name="immadisetty mohith" userId="dcf4cd7b9224ec9a" providerId="LiveId" clId="{80BC5271-2EF7-4AC7-9212-08AF10325BF1}" dt="2026-03-22T16:23:07.226" v="38" actId="20577"/>
          <ac:spMkLst>
            <pc:docMk/>
            <pc:sldMk cId="3981187392" sldId="269"/>
            <ac:spMk id="44" creationId="{746F2C30-13B1-3754-C147-D58A899BC459}"/>
          </ac:spMkLst>
        </pc:spChg>
        <pc:picChg chg="del">
          <ac:chgData name="immadisetty mohith" userId="dcf4cd7b9224ec9a" providerId="LiveId" clId="{80BC5271-2EF7-4AC7-9212-08AF10325BF1}" dt="2026-03-22T16:23:11.214" v="39" actId="21"/>
          <ac:picMkLst>
            <pc:docMk/>
            <pc:sldMk cId="3981187392" sldId="269"/>
            <ac:picMk id="3" creationId="{624A965B-E8ED-21A3-9179-70042B1C96E4}"/>
          </ac:picMkLst>
        </pc:picChg>
        <pc:picChg chg="add mod">
          <ac:chgData name="immadisetty mohith" userId="dcf4cd7b9224ec9a" providerId="LiveId" clId="{80BC5271-2EF7-4AC7-9212-08AF10325BF1}" dt="2026-03-22T16:24:30.758" v="48" actId="1076"/>
          <ac:picMkLst>
            <pc:docMk/>
            <pc:sldMk cId="3981187392" sldId="269"/>
            <ac:picMk id="6" creationId="{08416D8E-20A1-F0B2-0D83-E48B6EC07C3F}"/>
          </ac:picMkLst>
        </pc:picChg>
        <pc:picChg chg="add mod">
          <ac:chgData name="immadisetty mohith" userId="dcf4cd7b9224ec9a" providerId="LiveId" clId="{80BC5271-2EF7-4AC7-9212-08AF10325BF1}" dt="2026-03-22T16:24:36.093" v="49" actId="1076"/>
          <ac:picMkLst>
            <pc:docMk/>
            <pc:sldMk cId="3981187392" sldId="269"/>
            <ac:picMk id="39" creationId="{8CA6AD4F-E5BC-170F-4838-205E393584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xmlns="" id="{1194AAA3-5CF4-E695-04C9-0894FFF6F1F1}"/>
              </a:ext>
            </a:extLst>
          </p:cNvPr>
          <p:cNvPicPr>
            <a:picLocks noChangeAspect="1"/>
          </p:cNvPicPr>
          <p:nvPr/>
        </p:nvPicPr>
        <p:blipFill>
          <a:blip r:embed="rId2" cstate="print"/>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xmlns=""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xmlns=""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xmlns=""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xmlns=""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Subscription-Based Membership Engine with Tiered Logic</a:t>
            </a:r>
          </a:p>
        </p:txBody>
      </p:sp>
      <p:sp>
        <p:nvSpPr>
          <p:cNvPr id="14" name="TextBox 13">
            <a:extLst>
              <a:ext uri="{FF2B5EF4-FFF2-40B4-BE49-F238E27FC236}">
                <a16:creationId xmlns:a16="http://schemas.microsoft.com/office/drawing/2014/main" xmlns=""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smtClean="0">
                <a:latin typeface="Cambria" panose="02040503050406030204" pitchFamily="18" charset="0"/>
                <a:ea typeface="Cambria" panose="02040503050406030204" pitchFamily="18" charset="0"/>
              </a:rPr>
              <a:t>INDLA.KEERTHI SREE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VTU24645– 23UECS0215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xmlns=""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xmlns=""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xmlns=""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837E9E58-77B6-079D-9D0D-E380CADAD23D}"/>
              </a:ext>
            </a:extLst>
          </p:cNvPr>
          <p:cNvSpPr txBox="1"/>
          <p:nvPr/>
        </p:nvSpPr>
        <p:spPr>
          <a:xfrm>
            <a:off x="1704035" y="1304519"/>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US" sz="2800" dirty="0"/>
              <a:t>Many platforms do not provide proper subscription control and secure user access to content.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allows users to register, log in, select plans, and access content based on their subscription.</a:t>
            </a:r>
          </a:p>
          <a:p>
            <a:endParaRPr lang="en-US" sz="2800" b="1" dirty="0"/>
          </a:p>
          <a:p>
            <a:r>
              <a:rPr lang="en-US" sz="2800" b="1" dirty="0">
                <a:solidFill>
                  <a:srgbClr val="0033CC"/>
                </a:solidFill>
              </a:rPr>
              <a:t>Real-world relevance:</a:t>
            </a:r>
          </a:p>
          <a:p>
            <a:endParaRPr lang="en-US" sz="2800" dirty="0"/>
          </a:p>
          <a:p>
            <a:r>
              <a:rPr lang="en-US" sz="2800" dirty="0"/>
              <a:t>Useful for OTT platforms, online learning systems, and membership-based applications.</a:t>
            </a:r>
          </a:p>
          <a:p>
            <a:endParaRPr lang="en-US" sz="2800" dirty="0"/>
          </a:p>
          <a:p>
            <a:r>
              <a:rPr lang="en-US" sz="2800" b="1" dirty="0">
                <a:solidFill>
                  <a:srgbClr val="0033CC"/>
                </a:solidFill>
              </a:rPr>
              <a:t>Brief overview of the system:</a:t>
            </a:r>
          </a:p>
          <a:p>
            <a:endParaRPr lang="en-US" sz="2800" dirty="0"/>
          </a:p>
          <a:p>
            <a:r>
              <a:rPr lang="en-US" sz="2800" dirty="0"/>
              <a:t>mantra.com is a subscription-based web application that provides tier-based content access with authentication and deployment using Netlify.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xmlns=""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BDE2941C-1504-53F9-99B2-48002CA9A345}"/>
              </a:ext>
            </a:extLst>
          </p:cNvPr>
          <p:cNvSpPr txBox="1"/>
          <p:nvPr/>
        </p:nvSpPr>
        <p:spPr>
          <a:xfrm>
            <a:off x="2209800" y="1638300"/>
            <a:ext cx="15082325" cy="9140964"/>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Many digital content platforms do not provide an efficient system for user authentication, subscription management, and controlled access to premium content. This makes it difficult to manage users, restrict content based on membership levels, and provide a smooth user experience. There is a need for a simple, secure, and automated subscription-based web application that allows users to register, log in, choose suitable plans, and access content according to their subscription.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xmlns=""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xmlns=""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xmlns="" id="{056A0A3A-1541-5EC0-5370-02DA282ABDDE}"/>
              </a:ext>
            </a:extLst>
          </p:cNvPr>
          <p:cNvSpPr txBox="1"/>
          <p:nvPr/>
        </p:nvSpPr>
        <p:spPr>
          <a:xfrm>
            <a:off x="2209800" y="1638300"/>
            <a:ext cx="15082325" cy="7848302"/>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marL="514350" indent="-514350" algn="just">
              <a:buAutoNum type="arabicPeriod"/>
            </a:pPr>
            <a:r>
              <a:rPr lang="en-US" sz="2800" dirty="0"/>
              <a:t>To design and develop a web-based subscription platform that allows users to register, log In securely, and manage their accounts.</a:t>
            </a:r>
          </a:p>
          <a:p>
            <a:pPr algn="just"/>
            <a:endParaRPr lang="en-US" sz="2800" dirty="0"/>
          </a:p>
          <a:p>
            <a:pPr algn="just"/>
            <a:r>
              <a:rPr lang="en-US" sz="2800" dirty="0"/>
              <a:t>2. To implement tier-based subscription plans (Basic, Gold, and Premium) that control access to         content based on user membership.</a:t>
            </a:r>
          </a:p>
          <a:p>
            <a:pPr algn="just"/>
            <a:endParaRPr lang="en-US" sz="2800" dirty="0"/>
          </a:p>
          <a:p>
            <a:pPr algn="just"/>
            <a:r>
              <a:rPr lang="en-US" sz="2800" dirty="0"/>
              <a:t>3. To provide a responsive and user-friendly interface for accessing images and videos across different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xmlns=""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xmlns=""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E8F19716-1653-9AE0-442E-B3829A585B46}"/>
              </a:ext>
            </a:extLst>
          </p:cNvPr>
          <p:cNvSpPr txBox="1"/>
          <p:nvPr/>
        </p:nvSpPr>
        <p:spPr>
          <a:xfrm>
            <a:off x="1570676" y="1501974"/>
            <a:ext cx="16292949" cy="12157174"/>
          </a:xfrm>
          <a:prstGeom prst="rect">
            <a:avLst/>
          </a:prstGeom>
          <a:noFill/>
        </p:spPr>
        <p:txBody>
          <a:bodyPr wrap="square" rtlCol="0">
            <a:spAutoFit/>
          </a:bodyPr>
          <a:lstStyle/>
          <a:p>
            <a:pPr marL="971550" lvl="1" indent="-514350">
              <a:buAutoNum type="arabicPeriod"/>
            </a:pPr>
            <a:r>
              <a:rPr lang="en-US" sz="2800" dirty="0"/>
              <a:t>The proposed system is a web-based subscription platform that manages user registration, login, subscription plans, and content access in one application.</a:t>
            </a:r>
          </a:p>
          <a:p>
            <a:pPr lvl="1"/>
            <a:endParaRPr lang="en-US" sz="2800" dirty="0"/>
          </a:p>
          <a:p>
            <a:pPr lvl="1"/>
            <a:r>
              <a:rPr lang="en-US" sz="2800" dirty="0"/>
              <a:t>2. It allows users to create an account, log in securely, and choose a suitable subscription plan (Basic, Gold, or Premium).</a:t>
            </a:r>
          </a:p>
          <a:p>
            <a:pPr lvl="1"/>
            <a:endParaRPr lang="en-US" sz="2800" dirty="0"/>
          </a:p>
          <a:p>
            <a:pPr lvl="1"/>
            <a:r>
              <a:rPr lang="en-US" sz="2800" dirty="0"/>
              <a:t>3. The system provides controlled access to images and videos based on the selected membership level.</a:t>
            </a:r>
          </a:p>
          <a:p>
            <a:pPr lvl="1"/>
            <a:endParaRPr lang="en-US" sz="2800" dirty="0"/>
          </a:p>
          <a:p>
            <a:pPr lvl="1"/>
            <a:r>
              <a:rPr lang="en-US" sz="2800" dirty="0"/>
              <a:t>4. Content is displayed in a responsive and organized grid layout for better user experience.</a:t>
            </a:r>
          </a:p>
          <a:p>
            <a:pPr lvl="1"/>
            <a:endParaRPr lang="en-US" sz="2800" dirty="0"/>
          </a:p>
          <a:p>
            <a:pPr lvl="1"/>
            <a:r>
              <a:rPr lang="en-US" sz="2800" dirty="0"/>
              <a:t>5. The application includes features like likes, search, and smooth navigation to enhance user interaction.</a:t>
            </a:r>
          </a:p>
          <a:p>
            <a:pPr lvl="1"/>
            <a:endParaRPr lang="en-US" sz="2800" dirty="0"/>
          </a:p>
          <a:p>
            <a:pPr lvl="1"/>
            <a:r>
              <a:rPr lang="en-US" sz="2800" dirty="0"/>
              <a:t>6.The system is fully automated and reduces manual effort in managing users and content.</a:t>
            </a:r>
          </a:p>
          <a:p>
            <a:pPr lvl="1"/>
            <a:endParaRPr lang="en-US" sz="2800" dirty="0"/>
          </a:p>
          <a:p>
            <a:pPr lvl="1"/>
            <a:r>
              <a:rPr lang="en-US" sz="2800" dirty="0"/>
              <a:t>7.It ensures secure and accurate handling of user data and subscription logic.</a:t>
            </a:r>
          </a:p>
          <a:p>
            <a:pPr lvl="1"/>
            <a:endParaRPr lang="en-US" sz="2800" dirty="0"/>
          </a:p>
          <a:p>
            <a:pPr lvl="1"/>
            <a:r>
              <a:rPr lang="en-US" sz="2800" dirty="0"/>
              <a:t>8.The application is deployed on a cloud platform, making it accessible anytime on mobile and desktop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xmlns=""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xmlns=""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xmlns=""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a:extLst>
              <a:ext uri="{FF2B5EF4-FFF2-40B4-BE49-F238E27FC236}">
                <a16:creationId xmlns:a16="http://schemas.microsoft.com/office/drawing/2014/main" xmlns="" id="{56FC1511-CF79-7A15-C5ED-16D533F064A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xmlns=""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xmlns=""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xmlns="" id="{0CFC5353-3891-62C9-3474-1AACBC29EAE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xmlns=""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26E9F5F9-CCF8-6F05-4C01-034C88D7529E}"/>
              </a:ext>
            </a:extLst>
          </p:cNvPr>
          <p:cNvSpPr txBox="1"/>
          <p:nvPr/>
        </p:nvSpPr>
        <p:spPr>
          <a:xfrm>
            <a:off x="2057400" y="1028700"/>
            <a:ext cx="15082325" cy="16035159"/>
          </a:xfrm>
          <a:prstGeom prst="rect">
            <a:avLst/>
          </a:prstGeom>
          <a:noFill/>
        </p:spPr>
        <p:txBody>
          <a:bodyPr wrap="square" rtlCol="0">
            <a:spAutoFit/>
          </a:bodyPr>
          <a:lstStyle/>
          <a:p>
            <a:r>
              <a:rPr lang="en-US" sz="2800" dirty="0">
                <a:solidFill>
                  <a:srgbClr val="0033CC"/>
                </a:solidFill>
              </a:rPr>
              <a:t>Frontend:</a:t>
            </a: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r>
              <a:rPr lang="en-US" sz="2800" dirty="0"/>
              <a:t>1.Java Spring Boot</a:t>
            </a:r>
          </a:p>
          <a:p>
            <a:endParaRPr lang="en-US" sz="2800" dirty="0"/>
          </a:p>
          <a:p>
            <a:r>
              <a:rPr lang="en-US" sz="2800" dirty="0">
                <a:solidFill>
                  <a:srgbClr val="0033CC"/>
                </a:solidFill>
              </a:rPr>
              <a:t>Database:</a:t>
            </a:r>
          </a:p>
          <a:p>
            <a:r>
              <a:rPr lang="en-US" sz="2800" dirty="0"/>
              <a:t>1.XAMPP(</a:t>
            </a:r>
            <a:r>
              <a:rPr lang="en-US" sz="2800" dirty="0" err="1"/>
              <a:t>apache+MySQL</a:t>
            </a:r>
            <a:r>
              <a:rPr lang="en-US" sz="2800"/>
              <a:t>)</a:t>
            </a:r>
            <a:endParaRPr lang="en-US" sz="2800" dirty="0"/>
          </a:p>
          <a:p>
            <a:endParaRPr lang="en-US" sz="2800" dirty="0"/>
          </a:p>
          <a:p>
            <a:r>
              <a:rPr lang="en-US" sz="2800" dirty="0">
                <a:solidFill>
                  <a:srgbClr val="0033CC"/>
                </a:solidFill>
              </a:rPr>
              <a:t>Software Requirements</a:t>
            </a:r>
            <a:r>
              <a:rPr lang="en-US" sz="2800" dirty="0"/>
              <a:t>:</a:t>
            </a:r>
          </a:p>
          <a:p>
            <a:r>
              <a:rPr lang="en-US" sz="2800" dirty="0"/>
              <a:t>1.Operating System </a:t>
            </a:r>
          </a:p>
          <a:p>
            <a:r>
              <a:rPr lang="en-US" sz="2800" dirty="0"/>
              <a:t>2. Web Browser</a:t>
            </a:r>
          </a:p>
          <a:p>
            <a:r>
              <a:rPr lang="en-US" sz="2800" dirty="0"/>
              <a:t>3.Intrenet Connection</a:t>
            </a:r>
          </a:p>
          <a:p>
            <a:endParaRPr lang="en-US" sz="2800" dirty="0"/>
          </a:p>
          <a:p>
            <a:r>
              <a:rPr lang="en-US" sz="2800" dirty="0">
                <a:solidFill>
                  <a:srgbClr val="0033CC"/>
                </a:solidFill>
              </a:rPr>
              <a:t>Tools:</a:t>
            </a:r>
          </a:p>
          <a:p>
            <a:r>
              <a:rPr lang="en-US" sz="2800" dirty="0"/>
              <a:t> 1.visual Studio code</a:t>
            </a:r>
          </a:p>
          <a:p>
            <a:r>
              <a:rPr lang="en-US" sz="2800" dirty="0"/>
              <a:t> 2.Web Browser</a:t>
            </a:r>
          </a:p>
          <a:p>
            <a:endParaRPr lang="en-US" sz="2800" dirty="0">
              <a:solidFill>
                <a:srgbClr val="0033CC"/>
              </a:solidFill>
            </a:endParaRPr>
          </a:p>
          <a:p>
            <a:endParaRPr lang="en-US" sz="2800" dirty="0">
              <a:solidFill>
                <a:srgbClr val="0033CC"/>
              </a:solidFill>
            </a:endParaRPr>
          </a:p>
          <a:p>
            <a:endParaRPr lang="en-US" sz="2800" dirty="0"/>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304C197-EAC7-7A26-FAED-ED7302DBEC6E}"/>
              </a:ext>
            </a:extLst>
          </p:cNvPr>
          <p:cNvSpPr txBox="1"/>
          <p:nvPr/>
        </p:nvSpPr>
        <p:spPr>
          <a:xfrm>
            <a:off x="2209800" y="1638300"/>
            <a:ext cx="15082325" cy="10002738"/>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authentication, and user session management. Displays the user name after successful login and ensures secure access</a:t>
            </a:r>
            <a:r>
              <a:rPr lang="en-IN" sz="2800" dirty="0"/>
              <a:t>.</a:t>
            </a:r>
          </a:p>
          <a:p>
            <a:endParaRPr lang="en-IN" sz="2800" dirty="0"/>
          </a:p>
          <a:p>
            <a:r>
              <a:rPr lang="en-IN" sz="2800" b="1" dirty="0"/>
              <a:t>Module 2: Subscription Management</a:t>
            </a:r>
          </a:p>
          <a:p>
            <a:r>
              <a:rPr lang="en-US" sz="2800" dirty="0"/>
              <a:t> Allows users to select subscription plans such as Basic, Gold, and Premium. Stores subscription details and controls user access based on the selected plan.</a:t>
            </a:r>
            <a:endParaRPr lang="en-IN" sz="2800" b="1" dirty="0"/>
          </a:p>
          <a:p>
            <a:endParaRPr lang="en-IN" sz="2800" b="1" dirty="0"/>
          </a:p>
          <a:p>
            <a:r>
              <a:rPr lang="en-IN" sz="2800" b="1" dirty="0"/>
              <a:t>Module 3: Content Management</a:t>
            </a:r>
          </a:p>
          <a:p>
            <a:r>
              <a:rPr lang="en-US" sz="2800" dirty="0"/>
              <a:t> Manages the display of images and videos in a responsive grid layout. Provides features like search and likes for better user interaction.</a:t>
            </a:r>
            <a:endParaRPr lang="en-IN" sz="2800" dirty="0"/>
          </a:p>
          <a:p>
            <a:endParaRPr lang="en-IN" sz="2800" dirty="0"/>
          </a:p>
          <a:p>
            <a:r>
              <a:rPr lang="en-IN" sz="2800" b="1" dirty="0"/>
              <a:t>Module 4: Access control &amp; Session Handling</a:t>
            </a:r>
          </a:p>
          <a:p>
            <a:r>
              <a:rPr lang="en-US" sz="2800" dirty="0"/>
              <a:t>Validates subscription plans and restricts or allows content access accordingly. Handles logout and session termination securely.</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xmlns=""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xmlns=""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xmlns=""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xmlns=""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xmlns=""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xmlns=""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xmlns=""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xmlns=""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xmlns=""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xmlns=""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xmlns=""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xmlns=""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Register/sign in:</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1026" name="Picture 2"/>
          <p:cNvPicPr>
            <a:picLocks noChangeAspect="1" noChangeArrowheads="1"/>
          </p:cNvPicPr>
          <p:nvPr/>
        </p:nvPicPr>
        <p:blipFill>
          <a:blip r:embed="rId4"/>
          <a:srcRect/>
          <a:stretch>
            <a:fillRect/>
          </a:stretch>
        </p:blipFill>
        <p:spPr bwMode="auto">
          <a:xfrm>
            <a:off x="6143604" y="1714476"/>
            <a:ext cx="8897810" cy="3000396"/>
          </a:xfrm>
          <a:prstGeom prst="rect">
            <a:avLst/>
          </a:prstGeom>
          <a:noFill/>
          <a:ln w="9525">
            <a:noFill/>
            <a:miter lim="800000"/>
            <a:headEnd/>
            <a:tailEnd/>
          </a:ln>
          <a:effectLst/>
        </p:spPr>
      </p:pic>
      <p:pic>
        <p:nvPicPr>
          <p:cNvPr id="1027" name="Picture 3"/>
          <p:cNvPicPr>
            <a:picLocks noChangeAspect="1" noChangeArrowheads="1"/>
          </p:cNvPicPr>
          <p:nvPr/>
        </p:nvPicPr>
        <p:blipFill>
          <a:blip r:embed="rId5"/>
          <a:srcRect/>
          <a:stretch>
            <a:fillRect/>
          </a:stretch>
        </p:blipFill>
        <p:spPr bwMode="auto">
          <a:xfrm>
            <a:off x="4500530" y="6143632"/>
            <a:ext cx="9215502" cy="2786082"/>
          </a:xfrm>
          <a:prstGeom prst="rect">
            <a:avLst/>
          </a:prstGeom>
          <a:noFill/>
          <a:ln w="9525">
            <a:noFill/>
            <a:miter lim="800000"/>
            <a:headEnd/>
            <a:tailEnd/>
          </a:ln>
          <a:effectLst/>
        </p:spPr>
      </p:pic>
    </p:spTree>
    <p:extLst>
      <p:ext uri="{BB962C8B-B14F-4D97-AF65-F5344CB8AC3E}">
        <p14:creationId xmlns:p14="http://schemas.microsoft.com/office/powerpoint/2010/main" xmlns=""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xmlns=""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xmlns=""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xmlns=""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xmlns=""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xmlns=""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xmlns=""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xmlns=""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xmlns=""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xmlns=""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xmlns=""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xmlns=""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xmlns=""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Admin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050" name="Picture 2"/>
          <p:cNvPicPr>
            <a:picLocks noChangeAspect="1" noChangeArrowheads="1"/>
          </p:cNvPicPr>
          <p:nvPr/>
        </p:nvPicPr>
        <p:blipFill>
          <a:blip r:embed="rId4"/>
          <a:srcRect/>
          <a:stretch>
            <a:fillRect/>
          </a:stretch>
        </p:blipFill>
        <p:spPr bwMode="auto">
          <a:xfrm>
            <a:off x="2071638" y="1785914"/>
            <a:ext cx="14865393" cy="3487748"/>
          </a:xfrm>
          <a:prstGeom prst="rect">
            <a:avLst/>
          </a:prstGeom>
          <a:noFill/>
          <a:ln w="9525">
            <a:noFill/>
            <a:miter lim="800000"/>
            <a:headEnd/>
            <a:tailEnd/>
          </a:ln>
          <a:effectLst/>
        </p:spPr>
      </p:pic>
      <p:pic>
        <p:nvPicPr>
          <p:cNvPr id="2051" name="Picture 3"/>
          <p:cNvPicPr>
            <a:picLocks noChangeAspect="1" noChangeArrowheads="1"/>
          </p:cNvPicPr>
          <p:nvPr/>
        </p:nvPicPr>
        <p:blipFill>
          <a:blip r:embed="rId5"/>
          <a:srcRect/>
          <a:stretch>
            <a:fillRect/>
          </a:stretch>
        </p:blipFill>
        <p:spPr bwMode="auto">
          <a:xfrm>
            <a:off x="2071638" y="5929318"/>
            <a:ext cx="15513098" cy="3121033"/>
          </a:xfrm>
          <a:prstGeom prst="rect">
            <a:avLst/>
          </a:prstGeom>
          <a:noFill/>
          <a:ln w="9525">
            <a:noFill/>
            <a:miter lim="800000"/>
            <a:headEnd/>
            <a:tailEnd/>
          </a:ln>
          <a:effectLst/>
        </p:spPr>
      </p:pic>
    </p:spTree>
    <p:extLst>
      <p:ext uri="{BB962C8B-B14F-4D97-AF65-F5344CB8AC3E}">
        <p14:creationId xmlns:p14="http://schemas.microsoft.com/office/powerpoint/2010/main" xmlns=""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xmlns=""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xmlns=""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xmlns=""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xmlns=""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xmlns=""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xmlns=""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xmlns=""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xmlns=""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xmlns=""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xmlns=""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xmlns=""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xmlns=""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074" name="Picture 2"/>
          <p:cNvPicPr>
            <a:picLocks noChangeAspect="1" noChangeArrowheads="1"/>
          </p:cNvPicPr>
          <p:nvPr/>
        </p:nvPicPr>
        <p:blipFill>
          <a:blip r:embed="rId4"/>
          <a:srcRect/>
          <a:stretch>
            <a:fillRect/>
          </a:stretch>
        </p:blipFill>
        <p:spPr bwMode="auto">
          <a:xfrm>
            <a:off x="2000200" y="1428724"/>
            <a:ext cx="13858972" cy="4214843"/>
          </a:xfrm>
          <a:prstGeom prst="rect">
            <a:avLst/>
          </a:prstGeom>
          <a:noFill/>
          <a:ln w="9525">
            <a:noFill/>
            <a:miter lim="800000"/>
            <a:headEnd/>
            <a:tailEnd/>
          </a:ln>
          <a:effectLst/>
        </p:spPr>
      </p:pic>
      <p:pic>
        <p:nvPicPr>
          <p:cNvPr id="3075" name="Picture 3"/>
          <p:cNvPicPr>
            <a:picLocks noChangeAspect="1" noChangeArrowheads="1"/>
          </p:cNvPicPr>
          <p:nvPr/>
        </p:nvPicPr>
        <p:blipFill>
          <a:blip r:embed="rId5"/>
          <a:srcRect/>
          <a:stretch>
            <a:fillRect/>
          </a:stretch>
        </p:blipFill>
        <p:spPr bwMode="auto">
          <a:xfrm>
            <a:off x="2643142" y="5715004"/>
            <a:ext cx="14846340" cy="4024306"/>
          </a:xfrm>
          <a:prstGeom prst="rect">
            <a:avLst/>
          </a:prstGeom>
          <a:noFill/>
          <a:ln w="9525">
            <a:noFill/>
            <a:miter lim="800000"/>
            <a:headEnd/>
            <a:tailEnd/>
          </a:ln>
          <a:effectLst/>
        </p:spPr>
      </p:pic>
    </p:spTree>
    <p:extLst>
      <p:ext uri="{BB962C8B-B14F-4D97-AF65-F5344CB8AC3E}">
        <p14:creationId xmlns:p14="http://schemas.microsoft.com/office/powerpoint/2010/main" xmlns=""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xmlns=""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xmlns=""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xmlns=""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xmlns=""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xmlns=""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xmlns=""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xmlns=""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xmlns=""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xmlns=""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xmlns=""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xmlns=""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xmlns=""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4"/>
          <a:srcRect/>
          <a:stretch>
            <a:fillRect/>
          </a:stretch>
        </p:blipFill>
        <p:spPr bwMode="auto">
          <a:xfrm>
            <a:off x="1857324" y="2000228"/>
            <a:ext cx="14782844" cy="6035691"/>
          </a:xfrm>
          <a:prstGeom prst="rect">
            <a:avLst/>
          </a:prstGeom>
          <a:noFill/>
          <a:ln w="9525">
            <a:noFill/>
            <a:miter lim="800000"/>
            <a:headEnd/>
            <a:tailEnd/>
          </a:ln>
          <a:effectLst/>
        </p:spPr>
      </p:pic>
    </p:spTree>
    <p:extLst>
      <p:ext uri="{BB962C8B-B14F-4D97-AF65-F5344CB8AC3E}">
        <p14:creationId xmlns:p14="http://schemas.microsoft.com/office/powerpoint/2010/main" xmlns=""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xmlns=""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xmlns=""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xmlns=""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xmlns=""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xmlns=""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xmlns=""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xmlns=""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xmlns=""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xmlns=""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xmlns=""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xmlns=""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xmlns=""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xmlns=""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xmlns=""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xmlns=""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xmlns=""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xmlns=""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xmlns=""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xmlns=""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xmlns=""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xmlns=""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xmlns=""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xmlns=""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xmlns=""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xmlns=""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xmlns=""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xmlns=""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xmlns=""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xmlns=""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xmlns=""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xmlns=""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xmlns=""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C9F67AE5-ECE1-F1EA-A904-8B0B018D3538}"/>
              </a:ext>
            </a:extLst>
          </p:cNvPr>
          <p:cNvSpPr txBox="1"/>
          <p:nvPr/>
        </p:nvSpPr>
        <p:spPr>
          <a:xfrm>
            <a:off x="2358908" y="1664341"/>
            <a:ext cx="14576560" cy="7848302"/>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 Simple and user-friendly registration and login system.</a:t>
            </a:r>
          </a:p>
          <a:p>
            <a:r>
              <a:rPr lang="en-US" sz="2800" dirty="0"/>
              <a:t>2. Subscription-based content access (Basic, Gold, Premium).</a:t>
            </a:r>
          </a:p>
          <a:p>
            <a:r>
              <a:rPr lang="en-US" sz="2800" dirty="0"/>
              <a:t>3. Responsive design that works on mobile and laptop devices.</a:t>
            </a:r>
          </a:p>
          <a:p>
            <a:r>
              <a:rPr lang="en-US" sz="2800" dirty="0"/>
              <a:t>4. Cloud deployment using Netlify provides easy global access.</a:t>
            </a:r>
          </a:p>
          <a:p>
            <a:endParaRPr lang="en-US" sz="2800" dirty="0"/>
          </a:p>
          <a:p>
            <a:r>
              <a:rPr lang="en-US" sz="2800" b="1" dirty="0">
                <a:solidFill>
                  <a:srgbClr val="0033CC"/>
                </a:solidFill>
              </a:rPr>
              <a:t>Limitations:</a:t>
            </a:r>
          </a:p>
          <a:p>
            <a:r>
              <a:rPr lang="en-US" sz="2800" b="1" dirty="0"/>
              <a:t> </a:t>
            </a:r>
          </a:p>
          <a:p>
            <a:r>
              <a:rPr lang="en-US" sz="2800" dirty="0"/>
              <a:t>1. Uses client-side storage, so data is limited to the browser.</a:t>
            </a:r>
          </a:p>
          <a:p>
            <a:r>
              <a:rPr lang="en-US" sz="2800" dirty="0"/>
              <a:t>2. No real payment </a:t>
            </a:r>
            <a:r>
              <a:rPr lang="en-US" sz="2800" dirty="0" smtClean="0"/>
              <a:t>gateway.(free)</a:t>
            </a:r>
            <a:endParaRPr lang="en-US" sz="2800" dirty="0"/>
          </a:p>
          <a:p>
            <a:r>
              <a:rPr lang="en-US" sz="2800" dirty="0"/>
              <a:t>3. Requires internet connection to access hosted content.</a:t>
            </a:r>
          </a:p>
          <a:p>
            <a:r>
              <a:rPr lang="en-US" sz="2800" dirty="0"/>
              <a:t>4. Limited security compared to full backend-based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spTree>
    <p:extLst>
      <p:ext uri="{BB962C8B-B14F-4D97-AF65-F5344CB8AC3E}">
        <p14:creationId xmlns:p14="http://schemas.microsoft.com/office/powerpoint/2010/main" xmlns=""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TotalTime>
  <Words>869</Words>
  <Application>Microsoft Office PowerPoint</Application>
  <PresentationFormat>Custom</PresentationFormat>
  <Paragraphs>341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Bookman Old Style</vt:lpstr>
      <vt:lpstr>Times New Roman</vt:lpstr>
      <vt:lpstr>Gotham</vt:lpstr>
      <vt:lpstr>Gotham Bold Italics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dell</dc:creator>
  <cp:lastModifiedBy>dell</cp:lastModifiedBy>
  <cp:revision>13</cp:revision>
  <dcterms:created xsi:type="dcterms:W3CDTF">2006-08-16T00:00:00Z</dcterms:created>
  <dcterms:modified xsi:type="dcterms:W3CDTF">2026-03-22T18:56:45Z</dcterms:modified>
  <dc:identifier>DAHCaYqJ9OU</dc:identifier>
</cp:coreProperties>
</file>