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Calibri" pitchFamily="34" charset="0"/>
      <p:regular r:id="rId18"/>
      <p:bold r:id="rId19"/>
      <p:italic r:id="rId20"/>
      <p:boldItalic r:id="rId21"/>
    </p:embeddedFont>
    <p:embeddedFont>
      <p:font typeface="Cambria" pitchFamily="18" charset="0"/>
      <p:regular r:id="rId22"/>
      <p:bold r:id="rId23"/>
      <p:italic r:id="rId24"/>
      <p:boldItalic r:id="rId25"/>
    </p:embeddedFont>
    <p:embeddedFont>
      <p:font typeface="Bookman Old Style" pitchFamily="18" charset="0"/>
      <p:regular r:id="rId26"/>
      <p:bold r:id="rId27"/>
      <p:italic r:id="rId28"/>
      <p:boldItalic r:id="rId29"/>
    </p:embeddedFont>
    <p:embeddedFont>
      <p:font typeface="Gotham" charset="0"/>
      <p:regular r:id="rId30"/>
    </p:embeddedFont>
    <p:embeddedFont>
      <p:font typeface="Gotham Bold Italics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6D8C8D-4360-435C-8B69-E893A6E75E11}" v="44" dt="2026-03-22T14:23:42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099" autoAdjust="0"/>
    <p:restoredTop sz="94622" autoAdjust="0"/>
  </p:normalViewPr>
  <p:slideViewPr>
    <p:cSldViewPr>
      <p:cViewPr varScale="1">
        <p:scale>
          <a:sx n="41" d="100"/>
          <a:sy n="41" d="100"/>
        </p:scale>
        <p:origin x="-836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mmadisetty mohith" userId="dcf4cd7b9224ec9a" providerId="LiveId" clId="{80BC5271-2EF7-4AC7-9212-08AF10325BF1}"/>
    <pc:docChg chg="custSel modSld">
      <pc:chgData name="immadisetty mohith" userId="dcf4cd7b9224ec9a" providerId="LiveId" clId="{80BC5271-2EF7-4AC7-9212-08AF10325BF1}" dt="2026-03-22T16:36:13.348" v="73" actId="20577"/>
      <pc:docMkLst>
        <pc:docMk/>
      </pc:docMkLst>
      <pc:sldChg chg="modSp mod">
        <pc:chgData name="immadisetty mohith" userId="dcf4cd7b9224ec9a" providerId="LiveId" clId="{80BC5271-2EF7-4AC7-9212-08AF10325BF1}" dt="2026-03-22T16:36:13.348" v="73" actId="20577"/>
        <pc:sldMkLst>
          <pc:docMk/>
          <pc:sldMk cId="0" sldId="256"/>
        </pc:sldMkLst>
        <pc:spChg chg="mod">
          <ac:chgData name="immadisetty mohith" userId="dcf4cd7b9224ec9a" providerId="LiveId" clId="{80BC5271-2EF7-4AC7-9212-08AF10325BF1}" dt="2026-03-22T16:36:13.348" v="73" actId="20577"/>
          <ac:spMkLst>
            <pc:docMk/>
            <pc:sldMk cId="0" sldId="256"/>
            <ac:spMk id="27" creationId="{AC6C53BF-3850-6683-E07F-D595EC8B02B2}"/>
          </ac:spMkLst>
        </pc:spChg>
      </pc:sldChg>
      <pc:sldChg chg="addSp delSp modSp mod">
        <pc:chgData name="immadisetty mohith" userId="dcf4cd7b9224ec9a" providerId="LiveId" clId="{80BC5271-2EF7-4AC7-9212-08AF10325BF1}" dt="2026-03-22T14:17:44.401" v="21" actId="20577"/>
        <pc:sldMkLst>
          <pc:docMk/>
          <pc:sldMk cId="1998101144" sldId="266"/>
        </pc:sldMkLst>
        <pc:spChg chg="add">
          <ac:chgData name="immadisetty mohith" userId="dcf4cd7b9224ec9a" providerId="LiveId" clId="{80BC5271-2EF7-4AC7-9212-08AF10325BF1}" dt="2026-03-22T14:16:21.600" v="1"/>
          <ac:spMkLst>
            <pc:docMk/>
            <pc:sldMk cId="1998101144" sldId="266"/>
            <ac:spMk id="2" creationId="{EC23A9F8-EEA7-3CE6-620A-C3C1A23D7D9E}"/>
          </ac:spMkLst>
        </pc:spChg>
        <pc:spChg chg="add">
          <ac:chgData name="immadisetty mohith" userId="dcf4cd7b9224ec9a" providerId="LiveId" clId="{80BC5271-2EF7-4AC7-9212-08AF10325BF1}" dt="2026-03-22T14:17:13.379" v="6"/>
          <ac:spMkLst>
            <pc:docMk/>
            <pc:sldMk cId="1998101144" sldId="266"/>
            <ac:spMk id="4" creationId="{6CC394CE-4ECE-0806-80A9-16BE6FBF45D8}"/>
          </ac:spMkLst>
        </pc:spChg>
        <pc:spChg chg="mod">
          <ac:chgData name="immadisetty mohith" userId="dcf4cd7b9224ec9a" providerId="LiveId" clId="{80BC5271-2EF7-4AC7-9212-08AF10325BF1}" dt="2026-03-22T14:17:44.401" v="21" actId="20577"/>
          <ac:spMkLst>
            <pc:docMk/>
            <pc:sldMk cId="1998101144" sldId="266"/>
            <ac:spMk id="44" creationId="{9EC6A4DA-6D4B-3E6A-CF92-E543DD7AFBF5}"/>
          </ac:spMkLst>
        </pc:spChg>
        <pc:picChg chg="add del mod">
          <ac:chgData name="immadisetty mohith" userId="dcf4cd7b9224ec9a" providerId="LiveId" clId="{80BC5271-2EF7-4AC7-9212-08AF10325BF1}" dt="2026-03-22T14:16:49.694" v="5" actId="21"/>
          <ac:picMkLst>
            <pc:docMk/>
            <pc:sldMk cId="1998101144" sldId="266"/>
            <ac:picMk id="3" creationId="{9190A889-4038-1DA7-0A5A-85C1F085CA55}"/>
          </ac:picMkLst>
        </pc:picChg>
        <pc:picChg chg="del">
          <ac:chgData name="immadisetty mohith" userId="dcf4cd7b9224ec9a" providerId="LiveId" clId="{80BC5271-2EF7-4AC7-9212-08AF10325BF1}" dt="2026-03-22T14:15:39.524" v="0" actId="21"/>
          <ac:picMkLst>
            <pc:docMk/>
            <pc:sldMk cId="1998101144" sldId="266"/>
            <ac:picMk id="5" creationId="{B34768D4-3CE0-1B12-B84B-679AC2AEAB95}"/>
          </ac:picMkLst>
        </pc:picChg>
        <pc:picChg chg="add mod">
          <ac:chgData name="immadisetty mohith" userId="dcf4cd7b9224ec9a" providerId="LiveId" clId="{80BC5271-2EF7-4AC7-9212-08AF10325BF1}" dt="2026-03-22T14:17:33.017" v="9" actId="1076"/>
          <ac:picMkLst>
            <pc:docMk/>
            <pc:sldMk cId="1998101144" sldId="266"/>
            <ac:picMk id="6" creationId="{F71AC22B-D387-2765-41F9-22C6313C99D3}"/>
          </ac:picMkLst>
        </pc:picChg>
      </pc:sldChg>
      <pc:sldChg chg="addSp delSp modSp mod">
        <pc:chgData name="immadisetty mohith" userId="dcf4cd7b9224ec9a" providerId="LiveId" clId="{80BC5271-2EF7-4AC7-9212-08AF10325BF1}" dt="2026-03-22T14:20:24.900" v="39" actId="1076"/>
        <pc:sldMkLst>
          <pc:docMk/>
          <pc:sldMk cId="47544820" sldId="267"/>
        </pc:sldMkLst>
        <pc:spChg chg="add">
          <ac:chgData name="immadisetty mohith" userId="dcf4cd7b9224ec9a" providerId="LiveId" clId="{80BC5271-2EF7-4AC7-9212-08AF10325BF1}" dt="2026-03-22T14:19:05.597" v="28"/>
          <ac:spMkLst>
            <pc:docMk/>
            <pc:sldMk cId="47544820" sldId="267"/>
            <ac:spMk id="2" creationId="{1758323C-0B08-E8FC-6DE0-D1C61BCBA252}"/>
          </ac:spMkLst>
        </pc:spChg>
        <pc:spChg chg="mod">
          <ac:chgData name="immadisetty mohith" userId="dcf4cd7b9224ec9a" providerId="LiveId" clId="{80BC5271-2EF7-4AC7-9212-08AF10325BF1}" dt="2026-03-22T14:20:10.972" v="35" actId="14100"/>
          <ac:spMkLst>
            <pc:docMk/>
            <pc:sldMk cId="47544820" sldId="267"/>
            <ac:spMk id="44" creationId="{6C0EA81E-D408-1A06-6895-1BF3CA09E497}"/>
          </ac:spMkLst>
        </pc:spChg>
        <pc:picChg chg="add mod">
          <ac:chgData name="immadisetty mohith" userId="dcf4cd7b9224ec9a" providerId="LiveId" clId="{80BC5271-2EF7-4AC7-9212-08AF10325BF1}" dt="2026-03-22T14:20:24.900" v="39" actId="1076"/>
          <ac:picMkLst>
            <pc:docMk/>
            <pc:sldMk cId="47544820" sldId="267"/>
            <ac:picMk id="3" creationId="{CA5DCFD6-69D2-C637-7259-372BBDB68F83}"/>
          </ac:picMkLst>
        </pc:picChg>
        <pc:picChg chg="del">
          <ac:chgData name="immadisetty mohith" userId="dcf4cd7b9224ec9a" providerId="LiveId" clId="{80BC5271-2EF7-4AC7-9212-08AF10325BF1}" dt="2026-03-22T14:18:38.255" v="27" actId="21"/>
          <ac:picMkLst>
            <pc:docMk/>
            <pc:sldMk cId="47544820" sldId="267"/>
            <ac:picMk id="6" creationId="{49DF76A1-D3D1-CBB7-8C82-F0B723FED223}"/>
          </ac:picMkLst>
        </pc:picChg>
      </pc:sldChg>
      <pc:sldChg chg="addSp delSp modSp mod">
        <pc:chgData name="immadisetty mohith" userId="dcf4cd7b9224ec9a" providerId="LiveId" clId="{80BC5271-2EF7-4AC7-9212-08AF10325BF1}" dt="2026-03-22T14:24:02.342" v="71" actId="1076"/>
        <pc:sldMkLst>
          <pc:docMk/>
          <pc:sldMk cId="84889951" sldId="268"/>
        </pc:sldMkLst>
        <pc:spChg chg="add">
          <ac:chgData name="immadisetty mohith" userId="dcf4cd7b9224ec9a" providerId="LiveId" clId="{80BC5271-2EF7-4AC7-9212-08AF10325BF1}" dt="2026-03-22T14:20:55.250" v="45"/>
          <ac:spMkLst>
            <pc:docMk/>
            <pc:sldMk cId="84889951" sldId="268"/>
            <ac:spMk id="5" creationId="{2653A768-8F8F-991C-40A1-808ECC925A79}"/>
          </ac:spMkLst>
        </pc:spChg>
        <pc:spChg chg="add">
          <ac:chgData name="immadisetty mohith" userId="dcf4cd7b9224ec9a" providerId="LiveId" clId="{80BC5271-2EF7-4AC7-9212-08AF10325BF1}" dt="2026-03-22T14:21:24.723" v="50"/>
          <ac:spMkLst>
            <pc:docMk/>
            <pc:sldMk cId="84889951" sldId="268"/>
            <ac:spMk id="38" creationId="{F4945D79-7267-A715-8B20-0988760CE3BD}"/>
          </ac:spMkLst>
        </pc:spChg>
        <pc:spChg chg="add">
          <ac:chgData name="immadisetty mohith" userId="dcf4cd7b9224ec9a" providerId="LiveId" clId="{80BC5271-2EF7-4AC7-9212-08AF10325BF1}" dt="2026-03-22T14:22:55.182" v="62"/>
          <ac:spMkLst>
            <pc:docMk/>
            <pc:sldMk cId="84889951" sldId="268"/>
            <ac:spMk id="40" creationId="{97AF833B-7A7F-69EF-AC3F-1771289669E1}"/>
          </ac:spMkLst>
        </pc:spChg>
        <pc:spChg chg="add">
          <ac:chgData name="immadisetty mohith" userId="dcf4cd7b9224ec9a" providerId="LiveId" clId="{80BC5271-2EF7-4AC7-9212-08AF10325BF1}" dt="2026-03-22T14:23:39.449" v="66"/>
          <ac:spMkLst>
            <pc:docMk/>
            <pc:sldMk cId="84889951" sldId="268"/>
            <ac:spMk id="42" creationId="{8CC8A66D-FD38-20D8-1374-1C09766B8607}"/>
          </ac:spMkLst>
        </pc:spChg>
        <pc:picChg chg="add del mod">
          <ac:chgData name="immadisetty mohith" userId="dcf4cd7b9224ec9a" providerId="LiveId" clId="{80BC5271-2EF7-4AC7-9212-08AF10325BF1}" dt="2026-03-22T14:20:42.390" v="42" actId="21"/>
          <ac:picMkLst>
            <pc:docMk/>
            <pc:sldMk cId="84889951" sldId="268"/>
            <ac:picMk id="2" creationId="{14597448-5D1F-3016-447C-84B003B98ABB}"/>
          </ac:picMkLst>
        </pc:picChg>
        <pc:picChg chg="del">
          <ac:chgData name="immadisetty mohith" userId="dcf4cd7b9224ec9a" providerId="LiveId" clId="{80BC5271-2EF7-4AC7-9212-08AF10325BF1}" dt="2026-03-22T14:20:34.738" v="40" actId="21"/>
          <ac:picMkLst>
            <pc:docMk/>
            <pc:sldMk cId="84889951" sldId="268"/>
            <ac:picMk id="3" creationId="{14597448-5D1F-3016-447C-84B003B98ABB}"/>
          </ac:picMkLst>
        </pc:picChg>
        <pc:picChg chg="add del mod">
          <ac:chgData name="immadisetty mohith" userId="dcf4cd7b9224ec9a" providerId="LiveId" clId="{80BC5271-2EF7-4AC7-9212-08AF10325BF1}" dt="2026-03-22T14:20:46.582" v="44" actId="21"/>
          <ac:picMkLst>
            <pc:docMk/>
            <pc:sldMk cId="84889951" sldId="268"/>
            <ac:picMk id="4" creationId="{14597448-5D1F-3016-447C-84B003B98ABB}"/>
          </ac:picMkLst>
        </pc:picChg>
        <pc:picChg chg="add mod">
          <ac:chgData name="immadisetty mohith" userId="dcf4cd7b9224ec9a" providerId="LiveId" clId="{80BC5271-2EF7-4AC7-9212-08AF10325BF1}" dt="2026-03-22T14:21:51.752" v="56" actId="1076"/>
          <ac:picMkLst>
            <pc:docMk/>
            <pc:sldMk cId="84889951" sldId="268"/>
            <ac:picMk id="6" creationId="{597398E5-EA6C-3FA3-6EF1-44BC1D169726}"/>
          </ac:picMkLst>
        </pc:picChg>
        <pc:picChg chg="add mod">
          <ac:chgData name="immadisetty mohith" userId="dcf4cd7b9224ec9a" providerId="LiveId" clId="{80BC5271-2EF7-4AC7-9212-08AF10325BF1}" dt="2026-03-22T14:22:25.684" v="61" actId="1076"/>
          <ac:picMkLst>
            <pc:docMk/>
            <pc:sldMk cId="84889951" sldId="268"/>
            <ac:picMk id="39" creationId="{863D77E3-A4E7-9D84-02A6-9F67EC3049E1}"/>
          </ac:picMkLst>
        </pc:picChg>
        <pc:picChg chg="add mod">
          <ac:chgData name="immadisetty mohith" userId="dcf4cd7b9224ec9a" providerId="LiveId" clId="{80BC5271-2EF7-4AC7-9212-08AF10325BF1}" dt="2026-03-22T14:23:08.825" v="65" actId="1076"/>
          <ac:picMkLst>
            <pc:docMk/>
            <pc:sldMk cId="84889951" sldId="268"/>
            <ac:picMk id="41" creationId="{83F156C0-858F-9D10-A566-74FD58DD2023}"/>
          </ac:picMkLst>
        </pc:picChg>
        <pc:picChg chg="add mod">
          <ac:chgData name="immadisetty mohith" userId="dcf4cd7b9224ec9a" providerId="LiveId" clId="{80BC5271-2EF7-4AC7-9212-08AF10325BF1}" dt="2026-03-22T14:24:02.342" v="71" actId="1076"/>
          <ac:picMkLst>
            <pc:docMk/>
            <pc:sldMk cId="84889951" sldId="268"/>
            <ac:picMk id="45" creationId="{8167279E-AA79-D9A2-9C00-D814950306ED}"/>
          </ac:picMkLst>
        </pc:picChg>
      </pc:sldChg>
      <pc:sldChg chg="addSp delSp modSp mod">
        <pc:chgData name="immadisetty mohith" userId="dcf4cd7b9224ec9a" providerId="LiveId" clId="{80BC5271-2EF7-4AC7-9212-08AF10325BF1}" dt="2026-03-22T14:18:29.960" v="26" actId="1076"/>
        <pc:sldMkLst>
          <pc:docMk/>
          <pc:sldMk cId="3981187392" sldId="269"/>
        </pc:sldMkLst>
        <pc:spChg chg="add">
          <ac:chgData name="immadisetty mohith" userId="dcf4cd7b9224ec9a" providerId="LiveId" clId="{80BC5271-2EF7-4AC7-9212-08AF10325BF1}" dt="2026-03-22T14:18:18.358" v="23"/>
          <ac:spMkLst>
            <pc:docMk/>
            <pc:sldMk cId="3981187392" sldId="269"/>
            <ac:spMk id="2" creationId="{2434CD83-930D-13FA-D1A1-2FDCF28FBC20}"/>
          </ac:spMkLst>
        </pc:spChg>
        <pc:picChg chg="del">
          <ac:chgData name="immadisetty mohith" userId="dcf4cd7b9224ec9a" providerId="LiveId" clId="{80BC5271-2EF7-4AC7-9212-08AF10325BF1}" dt="2026-03-22T14:17:53.290" v="22" actId="21"/>
          <ac:picMkLst>
            <pc:docMk/>
            <pc:sldMk cId="3981187392" sldId="269"/>
            <ac:picMk id="3" creationId="{773BAB99-BCAA-7E64-87AC-806A371585B4}"/>
          </ac:picMkLst>
        </pc:picChg>
        <pc:picChg chg="add mod">
          <ac:chgData name="immadisetty mohith" userId="dcf4cd7b9224ec9a" providerId="LiveId" clId="{80BC5271-2EF7-4AC7-9212-08AF10325BF1}" dt="2026-03-22T14:18:29.960" v="26" actId="1076"/>
          <ac:picMkLst>
            <pc:docMk/>
            <pc:sldMk cId="3981187392" sldId="269"/>
            <ac:picMk id="4" creationId="{B8694255-DAC2-7222-F63B-E6473C172EF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2371B-6CAE-4F17-9E93-304108621988}" type="datetimeFigureOut">
              <a:rPr lang="en-IN" smtClean="0"/>
              <a:pPr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EF3BD6-7E61-4424-9FC4-99CD1026EE2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83195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</a:t>
            </a:r>
            <a:r>
              <a:rPr lang="en-IN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IN" sz="3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20-04-2026</a:t>
            </a:r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FFE0DA2-4723-7C13-5FD7-FC99B0394DDD}"/>
              </a:ext>
            </a:extLst>
          </p:cNvPr>
          <p:cNvSpPr txBox="1"/>
          <p:nvPr/>
        </p:nvSpPr>
        <p:spPr>
          <a:xfrm>
            <a:off x="1589438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JOB PORTAL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I.Keerthi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Sree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VTU24645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23UECS0215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 . HEMAMALINI – M.E., Ph.D.,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7AA51DE-E8D7-A1B4-BC0D-B25C8A0C467A}"/>
              </a:ext>
            </a:extLst>
          </p:cNvPr>
          <p:cNvSpPr txBox="1"/>
          <p:nvPr/>
        </p:nvSpPr>
        <p:spPr>
          <a:xfrm>
            <a:off x="1142944" y="7072326"/>
            <a:ext cx="1474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SDG: SDG 8 – Decent Work and Economic Growth</a:t>
            </a:r>
          </a:p>
          <a:p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37E9E58-77B6-079D-9D0D-E380CADAD23D}"/>
              </a:ext>
            </a:extLst>
          </p:cNvPr>
          <p:cNvSpPr txBox="1"/>
          <p:nvPr/>
        </p:nvSpPr>
        <p:spPr>
          <a:xfrm>
            <a:off x="1746185" y="1263748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solidFill>
                <a:srgbClr val="0033CC"/>
              </a:solidFill>
            </a:endParaRPr>
          </a:p>
          <a:p>
            <a:endParaRPr lang="en-US" sz="2800" b="1" dirty="0">
              <a:solidFill>
                <a:srgbClr val="0033CC"/>
              </a:solidFill>
            </a:endParaRPr>
          </a:p>
          <a:p>
            <a:r>
              <a:rPr lang="en-US" sz="2800" b="1" dirty="0">
                <a:solidFill>
                  <a:srgbClr val="0033CC"/>
                </a:solidFill>
              </a:rPr>
              <a:t>Background of the problem:</a:t>
            </a:r>
          </a:p>
          <a:p>
            <a:endParaRPr lang="en-US" sz="2800" b="1" dirty="0">
              <a:solidFill>
                <a:srgbClr val="0033CC"/>
              </a:solidFill>
            </a:endParaRPr>
          </a:p>
          <a:p>
            <a:r>
              <a:rPr lang="en-US" sz="2800" dirty="0" smtClean="0"/>
              <a:t>Manual job searching and recruitment are slow, unorganized, and inefficient.</a:t>
            </a:r>
            <a:endParaRPr lang="en-US" sz="2800" dirty="0"/>
          </a:p>
          <a:p>
            <a:endParaRPr lang="en-US" sz="2800" dirty="0"/>
          </a:p>
          <a:p>
            <a:r>
              <a:rPr lang="en-US" sz="2800" b="1" dirty="0">
                <a:solidFill>
                  <a:srgbClr val="0033CC"/>
                </a:solidFill>
              </a:rPr>
              <a:t>Why this project is important:</a:t>
            </a:r>
          </a:p>
          <a:p>
            <a:endParaRPr lang="en-US" sz="2800" dirty="0"/>
          </a:p>
          <a:p>
            <a:r>
              <a:rPr lang="en-US" sz="2800" dirty="0" smtClean="0"/>
              <a:t>It simplifies hiring by automating job posting, applications, and candidate management.</a:t>
            </a:r>
          </a:p>
          <a:p>
            <a:endParaRPr lang="en-US" sz="2800" dirty="0"/>
          </a:p>
          <a:p>
            <a:r>
              <a:rPr lang="en-US" sz="2800" b="1" dirty="0">
                <a:solidFill>
                  <a:srgbClr val="0033CC"/>
                </a:solidFill>
              </a:rPr>
              <a:t>Real-world relevance</a:t>
            </a:r>
            <a:r>
              <a:rPr lang="en-US" sz="2800" b="1" dirty="0" smtClean="0">
                <a:solidFill>
                  <a:srgbClr val="0033CC"/>
                </a:solidFill>
              </a:rPr>
              <a:t>:</a:t>
            </a:r>
          </a:p>
          <a:p>
            <a:endParaRPr lang="en-US" sz="2800" b="1" dirty="0">
              <a:solidFill>
                <a:srgbClr val="0033CC"/>
              </a:solidFill>
            </a:endParaRPr>
          </a:p>
          <a:p>
            <a:r>
              <a:rPr lang="en-US" sz="2800" dirty="0" smtClean="0"/>
              <a:t>Widely used by companies and job seekers to connect and streamline recruitment digitally.</a:t>
            </a:r>
            <a:endParaRPr lang="en-US" sz="2800" dirty="0"/>
          </a:p>
          <a:p>
            <a:endParaRPr lang="en-US" sz="2800" dirty="0"/>
          </a:p>
          <a:p>
            <a:r>
              <a:rPr lang="en-US" sz="2800" b="1" dirty="0">
                <a:solidFill>
                  <a:srgbClr val="0033CC"/>
                </a:solidFill>
              </a:rPr>
              <a:t>Brief overview of the system:</a:t>
            </a:r>
          </a:p>
          <a:p>
            <a:endParaRPr lang="en-US" sz="2800" dirty="0"/>
          </a:p>
          <a:p>
            <a:pPr marL="457200" indent="-457200"/>
            <a:r>
              <a:rPr lang="en-US" sz="2800" dirty="0" smtClean="0"/>
              <a:t>A web-based portal where employers post jobs and candidates apply and track applications online.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 smtClean="0"/>
              <a:t>To design and develop a web-based Job Portal Management </a:t>
            </a:r>
            <a:r>
              <a:rPr lang="en-US" sz="2800" dirty="0" err="1" smtClean="0"/>
              <a:t>System.The</a:t>
            </a:r>
            <a:r>
              <a:rPr lang="en-US" sz="2800" dirty="0" smtClean="0"/>
              <a:t> system should connect job seekers and employers on a single </a:t>
            </a:r>
            <a:r>
              <a:rPr lang="en-US" sz="2800" dirty="0" err="1" smtClean="0"/>
              <a:t>platform.It</a:t>
            </a:r>
            <a:r>
              <a:rPr lang="en-US" sz="2800" dirty="0" smtClean="0"/>
              <a:t> should allow employers to post and manage job openings </a:t>
            </a:r>
            <a:r>
              <a:rPr lang="en-US" sz="2800" dirty="0" err="1" smtClean="0"/>
              <a:t>easily.Job</a:t>
            </a:r>
            <a:r>
              <a:rPr lang="en-US" sz="2800" dirty="0" smtClean="0"/>
              <a:t> seekers should be able to search and apply for jobs </a:t>
            </a:r>
            <a:r>
              <a:rPr lang="en-US" sz="2800" dirty="0" err="1" smtClean="0"/>
              <a:t>online.The</a:t>
            </a:r>
            <a:r>
              <a:rPr lang="en-US" sz="2800" dirty="0" smtClean="0"/>
              <a:t> system must store and manage application data </a:t>
            </a:r>
            <a:r>
              <a:rPr lang="en-US" sz="2800" dirty="0" err="1" smtClean="0"/>
              <a:t>efficiently.It</a:t>
            </a:r>
            <a:r>
              <a:rPr lang="en-US" sz="2800" dirty="0" smtClean="0"/>
              <a:t> should improve the overall recruitment process by reducing time and manual effort. It should provide secure login and profile management for </a:t>
            </a:r>
            <a:r>
              <a:rPr lang="en-US" sz="2800" dirty="0" err="1" smtClean="0"/>
              <a:t>users.The</a:t>
            </a:r>
            <a:r>
              <a:rPr lang="en-US" sz="2800" dirty="0" smtClean="0"/>
              <a:t> system should enable tracking of application status in real </a:t>
            </a:r>
            <a:r>
              <a:rPr lang="en-US" sz="2800" dirty="0" err="1" smtClean="0"/>
              <a:t>time.It</a:t>
            </a:r>
            <a:r>
              <a:rPr lang="en-US" sz="2800" dirty="0" smtClean="0"/>
              <a:t> should ensure a user-friendly interface for smooth navigation and usability.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5B915D36-EE4F-CB45-6DD3-E1B9C803EB40}"/>
              </a:ext>
            </a:extLst>
          </p:cNvPr>
          <p:cNvSpPr txBox="1"/>
          <p:nvPr/>
        </p:nvSpPr>
        <p:spPr>
          <a:xfrm>
            <a:off x="76200" y="436947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xmlns="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xmlns="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algn="just"/>
            <a:r>
              <a:rPr lang="en-US" sz="2800" dirty="0"/>
              <a:t> </a:t>
            </a:r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algn="just"/>
            <a:endParaRPr lang="en-US" sz="2800" dirty="0"/>
          </a:p>
          <a:p>
            <a:pPr marL="514350" indent="-514350" algn="just">
              <a:buAutoNum type="arabicPeriod"/>
            </a:pPr>
            <a:r>
              <a:rPr lang="en-US" sz="2800" dirty="0" smtClean="0"/>
              <a:t>To develop a web-based platform that allows employers to post jobs and manage applications efficiently. </a:t>
            </a:r>
          </a:p>
          <a:p>
            <a:pPr marL="514350" indent="-514350" algn="just"/>
            <a:endParaRPr lang="en-US" sz="2800" dirty="0" smtClean="0"/>
          </a:p>
          <a:p>
            <a:pPr marL="457200" indent="-457200"/>
            <a:r>
              <a:rPr lang="en-US" sz="2800" dirty="0" smtClean="0"/>
              <a:t>2.   To provide a secure and user-friendly system for seamless interaction between employers and job seekers.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xmlns="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E8F19716-1653-9AE0-442E-B3829A585B46}"/>
              </a:ext>
            </a:extLst>
          </p:cNvPr>
          <p:cNvSpPr txBox="1"/>
          <p:nvPr/>
        </p:nvSpPr>
        <p:spPr>
          <a:xfrm>
            <a:off x="1570676" y="1501974"/>
            <a:ext cx="16292949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marL="971550" lvl="1" indent="-514350">
              <a:buAutoNum type="arabicPeriod"/>
            </a:pPr>
            <a:r>
              <a:rPr lang="en-US" sz="2800" dirty="0" smtClean="0"/>
              <a:t>The proposed system is a web-based Job Portal Management System.</a:t>
            </a:r>
          </a:p>
          <a:p>
            <a:pPr marL="971550" lvl="1" indent="-514350">
              <a:buAutoNum type="arabicPeriod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 smtClean="0"/>
              <a:t>2.  It provides separate login access for </a:t>
            </a:r>
            <a:r>
              <a:rPr lang="en-US" sz="2800" dirty="0" err="1" smtClean="0"/>
              <a:t>admins</a:t>
            </a:r>
            <a:r>
              <a:rPr lang="en-US" sz="2800" dirty="0" smtClean="0"/>
              <a:t>, employers, and job seekers.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3. </a:t>
            </a:r>
            <a:r>
              <a:rPr lang="en-US" sz="2800" dirty="0" smtClean="0"/>
              <a:t>Employers can post, update, and manage job vacancies easily.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4</a:t>
            </a:r>
            <a:r>
              <a:rPr lang="en-US" sz="2800" dirty="0" smtClean="0"/>
              <a:t>.  Job seekers can create profiles, upload resumes, and apply for jobs online.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5. </a:t>
            </a:r>
            <a:r>
              <a:rPr lang="en-US" sz="2800" dirty="0" smtClean="0"/>
              <a:t>The system allows searching and filtering of jobs based on skills and location.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 smtClean="0"/>
              <a:t>6. It maintains a centralized database for storing user and job details.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 smtClean="0"/>
              <a:t>7.  </a:t>
            </a:r>
            <a:r>
              <a:rPr lang="en-US" sz="2800" dirty="0" err="1" smtClean="0"/>
              <a:t>Admins</a:t>
            </a:r>
            <a:r>
              <a:rPr lang="en-US" sz="2800" dirty="0" smtClean="0"/>
              <a:t> can monitor activities and manage users efficiently.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 smtClean="0"/>
              <a:t>8. The system ensures secure, fast, and user-friendly recruitment management.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B28D16C-07BA-60D7-A9C8-4A8BE9FA5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can view and manage registered participants.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528268D9-C584-EC3C-45DD-2B13ADFA8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xmlns="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25F9D4B0-38FE-DBA4-164D-1745B68379A5}"/>
              </a:ext>
            </a:extLst>
          </p:cNvPr>
          <p:cNvSpPr txBox="1"/>
          <p:nvPr/>
        </p:nvSpPr>
        <p:spPr>
          <a:xfrm>
            <a:off x="2374972" y="2117811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57324" y="1857352"/>
            <a:ext cx="14630400" cy="8021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xmlns="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xmlns="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28762" y="1285848"/>
            <a:ext cx="14630400" cy="844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xmlns="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xmlns="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xmlns="" id="{26E9F5F9-CCF8-6F05-4C01-034C88D7529E}"/>
              </a:ext>
            </a:extLst>
          </p:cNvPr>
          <p:cNvSpPr txBox="1"/>
          <p:nvPr/>
        </p:nvSpPr>
        <p:spPr>
          <a:xfrm>
            <a:off x="1981200" y="1528750"/>
            <a:ext cx="15082325" cy="13449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33CC"/>
                </a:solidFill>
              </a:rPr>
              <a:t>Frontend</a:t>
            </a:r>
            <a:r>
              <a:rPr lang="en-US" sz="2800" dirty="0" smtClean="0">
                <a:solidFill>
                  <a:srgbClr val="0033CC"/>
                </a:solidFill>
              </a:rPr>
              <a:t>:</a:t>
            </a:r>
            <a:endParaRPr lang="en-US" sz="2800" dirty="0">
              <a:solidFill>
                <a:srgbClr val="0033CC"/>
              </a:solidFill>
            </a:endParaRPr>
          </a:p>
          <a:p>
            <a:r>
              <a:rPr lang="en-US" sz="2800" dirty="0"/>
              <a:t>1.HTML5</a:t>
            </a:r>
          </a:p>
          <a:p>
            <a:r>
              <a:rPr lang="en-US" sz="2800" dirty="0"/>
              <a:t>2.CSS3</a:t>
            </a:r>
          </a:p>
          <a:p>
            <a:r>
              <a:rPr lang="en-US" sz="2800" dirty="0"/>
              <a:t>3.Javascript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0033CC"/>
                </a:solidFill>
              </a:rPr>
              <a:t>Backend</a:t>
            </a:r>
            <a:r>
              <a:rPr lang="en-US" sz="2800" dirty="0" smtClean="0">
                <a:solidFill>
                  <a:srgbClr val="0033CC"/>
                </a:solidFill>
              </a:rPr>
              <a:t>:</a:t>
            </a:r>
            <a:endParaRPr lang="en-US" sz="2800" dirty="0">
              <a:solidFill>
                <a:srgbClr val="0033CC"/>
              </a:solidFill>
            </a:endParaRPr>
          </a:p>
          <a:p>
            <a:r>
              <a:rPr lang="en-US" sz="2800" dirty="0"/>
              <a:t>1.Java Spring Boot</a:t>
            </a:r>
          </a:p>
          <a:p>
            <a:endParaRPr lang="en-US" sz="2800" dirty="0"/>
          </a:p>
          <a:p>
            <a:r>
              <a:rPr lang="en-IN" sz="2800" b="1" dirty="0">
                <a:solidFill>
                  <a:srgbClr val="0033CC"/>
                </a:solidFill>
              </a:rPr>
              <a:t>Database</a:t>
            </a:r>
            <a:r>
              <a:rPr lang="en-IN" sz="2800" b="1" dirty="0" smtClean="0">
                <a:solidFill>
                  <a:srgbClr val="0033CC"/>
                </a:solidFill>
              </a:rPr>
              <a:t>:</a:t>
            </a:r>
            <a:endParaRPr lang="en-IN" sz="2800" b="1" dirty="0">
              <a:solidFill>
                <a:srgbClr val="0033CC"/>
              </a:solidFill>
            </a:endParaRPr>
          </a:p>
          <a:p>
            <a:r>
              <a:rPr lang="en-IN" sz="2800" dirty="0" err="1" smtClean="0"/>
              <a:t>MySQL</a:t>
            </a:r>
            <a:endParaRPr lang="en-IN" sz="2800" dirty="0" smtClean="0"/>
          </a:p>
          <a:p>
            <a:r>
              <a:rPr lang="en-US" sz="2800" dirty="0" smtClean="0"/>
              <a:t>Spring Data JPA</a:t>
            </a:r>
            <a:endParaRPr lang="en-IN" sz="2800" dirty="0"/>
          </a:p>
          <a:p>
            <a:endParaRPr lang="en-IN" sz="2800" dirty="0"/>
          </a:p>
          <a:p>
            <a:r>
              <a:rPr lang="en-US" sz="2800" b="1" dirty="0">
                <a:solidFill>
                  <a:srgbClr val="0033CC"/>
                </a:solidFill>
              </a:rPr>
              <a:t> Server:</a:t>
            </a:r>
          </a:p>
          <a:p>
            <a:r>
              <a:rPr lang="en-US" sz="2800" dirty="0"/>
              <a:t>XAMPP (Apache Server + MySQL)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0033CC"/>
                </a:solidFill>
              </a:rPr>
              <a:t>Tools:</a:t>
            </a:r>
            <a:endParaRPr lang="en-IN" sz="2800" dirty="0"/>
          </a:p>
          <a:p>
            <a:pPr marL="514350" indent="-514350"/>
            <a:r>
              <a:rPr lang="en-IN" sz="2800" dirty="0" smtClean="0"/>
              <a:t>1.Web </a:t>
            </a:r>
            <a:r>
              <a:rPr lang="en-IN" sz="2800" dirty="0"/>
              <a:t>Browser (Chrome / Edge)</a:t>
            </a:r>
            <a:r>
              <a:rPr lang="en-US" sz="2800" dirty="0"/>
              <a:t> </a:t>
            </a:r>
          </a:p>
          <a:p>
            <a:r>
              <a:rPr lang="en-US" sz="2800" dirty="0"/>
              <a:t>2. </a:t>
            </a:r>
            <a:r>
              <a:rPr lang="en-US" sz="2800" dirty="0" smtClean="0"/>
              <a:t>Google </a:t>
            </a:r>
            <a:r>
              <a:rPr lang="en-US" sz="2800" dirty="0" err="1" smtClean="0"/>
              <a:t>ai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304C197-EAC7-7A26-FAED-ED7302DBEC6E}"/>
              </a:ext>
            </a:extLst>
          </p:cNvPr>
          <p:cNvSpPr txBox="1"/>
          <p:nvPr/>
        </p:nvSpPr>
        <p:spPr>
          <a:xfrm>
            <a:off x="2029274" y="2118571"/>
            <a:ext cx="15082325" cy="95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2800" b="1" dirty="0"/>
              <a:t>Module 1: User Management</a:t>
            </a:r>
          </a:p>
          <a:p>
            <a:r>
              <a:rPr lang="en-US" sz="2800" dirty="0" smtClean="0"/>
              <a:t>Manages users, monitors system activities, and controls overall system operations.</a:t>
            </a:r>
          </a:p>
          <a:p>
            <a:endParaRPr lang="en-IN" sz="2800" dirty="0"/>
          </a:p>
          <a:p>
            <a:r>
              <a:rPr lang="en-IN" sz="2800" b="1" dirty="0"/>
              <a:t>Module 2: </a:t>
            </a:r>
            <a:r>
              <a:rPr lang="en-IN" sz="2800" dirty="0"/>
              <a:t>Event</a:t>
            </a:r>
            <a:r>
              <a:rPr lang="en-IN" sz="2800" b="1" dirty="0"/>
              <a:t> Management</a:t>
            </a:r>
          </a:p>
          <a:p>
            <a:r>
              <a:rPr lang="en-US" sz="2800" dirty="0" smtClean="0"/>
              <a:t>Allows employers to post jobs, update vacancies, and manage applicants.</a:t>
            </a:r>
            <a:endParaRPr lang="en-US" sz="2800" dirty="0"/>
          </a:p>
          <a:p>
            <a:endParaRPr lang="en-IN" sz="2800" dirty="0"/>
          </a:p>
          <a:p>
            <a:r>
              <a:rPr lang="en-IN" sz="2800" b="1" dirty="0"/>
              <a:t>Module 3: </a:t>
            </a:r>
            <a:r>
              <a:rPr lang="en-IN" sz="2800" dirty="0"/>
              <a:t>Registration Management</a:t>
            </a:r>
          </a:p>
          <a:p>
            <a:r>
              <a:rPr lang="en-US" sz="2800" dirty="0" smtClean="0"/>
              <a:t>Enables users to register, create profiles, search jobs, and apply online.</a:t>
            </a:r>
          </a:p>
          <a:p>
            <a:endParaRPr lang="en-IN" sz="2800" dirty="0"/>
          </a:p>
          <a:p>
            <a:r>
              <a:rPr lang="en-IN" sz="2800" b="1" dirty="0"/>
              <a:t>Module 4: </a:t>
            </a:r>
            <a:r>
              <a:rPr lang="en-IN" sz="2800" dirty="0"/>
              <a:t>Database </a:t>
            </a:r>
            <a:r>
              <a:rPr lang="en-IN" sz="2800" dirty="0" smtClean="0"/>
              <a:t>Management</a:t>
            </a:r>
          </a:p>
          <a:p>
            <a:r>
              <a:rPr lang="en-US" sz="2800" dirty="0" smtClean="0"/>
              <a:t>Handles job applications, tracks status, and manages communication between employers and job seekers.</a:t>
            </a:r>
          </a:p>
          <a:p>
            <a:endParaRPr lang="en-IN" sz="2800" b="1" dirty="0"/>
          </a:p>
          <a:p>
            <a:endParaRPr lang="en-US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33CC"/>
                </a:solidFill>
              </a:rPr>
              <a:t>Login Page:</a:t>
            </a:r>
          </a:p>
          <a:p>
            <a:endParaRPr lang="en-US" sz="2800" dirty="0">
              <a:solidFill>
                <a:srgbClr val="0033CC"/>
              </a:solidFill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28762" y="2143104"/>
            <a:ext cx="14922543" cy="6473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33CC"/>
                </a:solidFill>
              </a:rPr>
              <a:t>Admin Login Page :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928762" y="3071798"/>
            <a:ext cx="15503572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34261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71637" y="3359150"/>
            <a:ext cx="16003637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xmlns="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xmlns="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xmlns="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xmlns="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xmlns="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xmlns="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xmlns="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xmlns="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xmlns="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xmlns="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xmlns="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xmlns="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xmlns="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xmlns="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xmlns="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xmlns="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xmlns="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xmlns="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xmlns="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xmlns="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xmlns="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xmlns="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xmlns="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xmlns="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xmlns="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xmlns="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xmlns="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xmlns="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xmlns="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43208" y="5429252"/>
            <a:ext cx="5429288" cy="4038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00200" y="1357287"/>
            <a:ext cx="14427237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144000" y="5143500"/>
            <a:ext cx="8301054" cy="3838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xmlns="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xmlns="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xmlns="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xmlns="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xmlns="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xmlns="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xmlns="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xmlns="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xmlns="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xmlns="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xmlns="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xmlns="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xmlns="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xmlns="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xmlns="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xmlns="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xmlns="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xmlns="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xmlns="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xmlns="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xmlns="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xmlns="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xmlns="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xmlns="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xmlns="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xmlns="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xmlns="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xmlns="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xmlns="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xmlns="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xmlns="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9F67AE5-ECE1-F1EA-A904-8B0B018D3538}"/>
              </a:ext>
            </a:extLst>
          </p:cNvPr>
          <p:cNvSpPr txBox="1"/>
          <p:nvPr/>
        </p:nvSpPr>
        <p:spPr>
          <a:xfrm>
            <a:off x="2209801" y="1638301"/>
            <a:ext cx="14576560" cy="87100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b="1" dirty="0">
                <a:solidFill>
                  <a:srgbClr val="0033CC"/>
                </a:solidFill>
              </a:rPr>
              <a:t>Advantages:</a:t>
            </a:r>
          </a:p>
          <a:p>
            <a:endParaRPr lang="en-US" sz="2800" dirty="0"/>
          </a:p>
          <a:p>
            <a:pPr marL="514350" indent="-514350">
              <a:buAutoNum type="arabicPeriod"/>
            </a:pPr>
            <a:r>
              <a:rPr lang="en-US" sz="2800" dirty="0" smtClean="0"/>
              <a:t>Reduces manual work and speeds up the recruitment process.</a:t>
            </a:r>
          </a:p>
          <a:p>
            <a:pPr marL="514350" indent="-514350">
              <a:buAutoNum type="arabicPeriod"/>
            </a:pPr>
            <a:r>
              <a:rPr lang="en-US" sz="2800" dirty="0" smtClean="0"/>
              <a:t> Provides a centralized platform for job seekers and employers. </a:t>
            </a:r>
          </a:p>
          <a:p>
            <a:pPr marL="514350" indent="-514350">
              <a:buAutoNum type="arabicPeriod"/>
            </a:pPr>
            <a:r>
              <a:rPr lang="en-US" sz="2800" dirty="0" smtClean="0"/>
              <a:t>Easy to access and use from anywhere through the web. </a:t>
            </a:r>
          </a:p>
          <a:p>
            <a:pPr marL="514350" indent="-514350">
              <a:buAutoNum type="arabicPeriod"/>
            </a:pPr>
            <a:r>
              <a:rPr lang="en-US" sz="2800" dirty="0" smtClean="0"/>
              <a:t>Improves data management and tracking of applications.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r>
              <a:rPr lang="en-US" sz="2800" b="1" dirty="0">
                <a:solidFill>
                  <a:srgbClr val="0033CC"/>
                </a:solidFill>
              </a:rPr>
              <a:t>Limitations:</a:t>
            </a:r>
          </a:p>
          <a:p>
            <a:r>
              <a:rPr lang="en-US" sz="2800" b="1" dirty="0"/>
              <a:t> </a:t>
            </a:r>
          </a:p>
          <a:p>
            <a:pPr marL="514350" indent="-514350">
              <a:buAutoNum type="arabicPeriod"/>
            </a:pPr>
            <a:r>
              <a:rPr lang="en-US" sz="2800" dirty="0" smtClean="0"/>
              <a:t>Requires internet connection to access the system. </a:t>
            </a:r>
          </a:p>
          <a:p>
            <a:pPr marL="514350" indent="-514350">
              <a:buAutoNum type="arabicPeriod"/>
            </a:pPr>
            <a:r>
              <a:rPr lang="en-US" sz="2800" dirty="0" smtClean="0"/>
              <a:t>Data security and privacy risks if not properly managed. </a:t>
            </a:r>
          </a:p>
          <a:p>
            <a:pPr marL="514350" indent="-514350">
              <a:buAutoNum type="arabicPeriod"/>
            </a:pPr>
            <a:r>
              <a:rPr lang="en-US" sz="2800" dirty="0" smtClean="0"/>
              <a:t>Depends on system maintenance and regular updates. </a:t>
            </a:r>
          </a:p>
          <a:p>
            <a:pPr marL="514350" indent="-514350">
              <a:buAutoNum type="arabicPeriod"/>
            </a:pPr>
            <a:r>
              <a:rPr lang="en-US" sz="2800" dirty="0" smtClean="0"/>
              <a:t>Limited functionality if not integrated with advanced features.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754</Words>
  <Application>Microsoft Office PowerPoint</Application>
  <PresentationFormat>Custom</PresentationFormat>
  <Paragraphs>342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</vt:lpstr>
      <vt:lpstr>Bookman Old Style</vt:lpstr>
      <vt:lpstr>Times New Roman</vt:lpstr>
      <vt:lpstr>Gotham</vt:lpstr>
      <vt:lpstr>Gotham Bold Italics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dell</dc:creator>
  <cp:lastModifiedBy>dell</cp:lastModifiedBy>
  <cp:revision>25</cp:revision>
  <dcterms:created xsi:type="dcterms:W3CDTF">2006-08-16T00:00:00Z</dcterms:created>
  <dcterms:modified xsi:type="dcterms:W3CDTF">2026-04-19T16:52:17Z</dcterms:modified>
  <dc:identifier>DAHCaYqJ9OU</dc:identifier>
</cp:coreProperties>
</file>